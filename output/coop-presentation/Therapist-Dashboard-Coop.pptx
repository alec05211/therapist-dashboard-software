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9b8740a515456e" /><Relationship Type="http://schemas.openxmlformats.org/officeDocument/2006/relationships/extended-properties" Target="/docProps/app.xml" Id="Rd0950b2f53314121" /><Relationship Type="http://schemas.openxmlformats.org/officeDocument/2006/relationships/officeDocument" Target="/ppt/presentation.xml" Id="Rb64c46234de94797" /></Relationships>
</file>

<file path=ppt/presentation.xml><?xml version="1.0" encoding="utf-8"?>
<p:presentation xmlns:p="http://schemas.openxmlformats.org/presentationml/2006/main">
  <p:sldMasterIdLst>
    <p:sldMasterId xmlns:r="http://schemas.openxmlformats.org/officeDocument/2006/relationships" id="2147483648" r:id="R7653ec7cbd5f44fe"/>
  </p:sldMasterIdLst>
  <p:notesMasterIdLst>
    <p:notesMasterId xmlns:r="http://schemas.openxmlformats.org/officeDocument/2006/relationships" r:id="R71c8fb626af94bf4"/>
  </p:notesMasterIdLst>
  <p:sldIdLst>
    <p:sldId xmlns:r="http://schemas.openxmlformats.org/officeDocument/2006/relationships" id="256" r:id="R533193ff5fa34912"/>
    <p:sldId xmlns:r="http://schemas.openxmlformats.org/officeDocument/2006/relationships" id="257" r:id="Rbef0193e5e5d414a"/>
    <p:sldId xmlns:r="http://schemas.openxmlformats.org/officeDocument/2006/relationships" id="258" r:id="R442f6d700cdc4ecc"/>
    <p:sldId xmlns:r="http://schemas.openxmlformats.org/officeDocument/2006/relationships" id="259" r:id="R2c18e853ffed41f8"/>
    <p:sldId xmlns:r="http://schemas.openxmlformats.org/officeDocument/2006/relationships" id="260" r:id="R1743cd0286f54f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66ea0633a14bad" /><Relationship Type="http://schemas.openxmlformats.org/officeDocument/2006/relationships/slideMaster" Target="/ppt/slideMasters/slideMaster1.xml" Id="R7653ec7cbd5f44fe" /><Relationship Type="http://schemas.openxmlformats.org/officeDocument/2006/relationships/notesMaster" Target="/ppt/notesMasters/notesMaster1.xml" Id="R71c8fb626af94bf4" /><Relationship Type="http://schemas.openxmlformats.org/officeDocument/2006/relationships/presProps" Target="/ppt/presProps.xml" Id="R88d42d8671cb41e7" /><Relationship Type="http://schemas.openxmlformats.org/officeDocument/2006/relationships/tableStyles" Target="/ppt/tableStyles.xml" Id="Rae7425c531414fbf" /><Relationship Type="http://schemas.openxmlformats.org/officeDocument/2006/relationships/slide" Target="/ppt/slides/slide1.xml" Id="R533193ff5fa34912" /><Relationship Type="http://schemas.openxmlformats.org/officeDocument/2006/relationships/slide" Target="/ppt/slides/slide2.xml" Id="Rbef0193e5e5d414a" /><Relationship Type="http://schemas.openxmlformats.org/officeDocument/2006/relationships/slide" Target="/ppt/slides/slide3.xml" Id="R442f6d700cdc4ecc" /><Relationship Type="http://schemas.openxmlformats.org/officeDocument/2006/relationships/slide" Target="/ppt/slides/slide4.xml" Id="R2c18e853ffed41f8" /><Relationship Type="http://schemas.openxmlformats.org/officeDocument/2006/relationships/slide" Target="/ppt/slides/slide5.xml" Id="R1743cd0286f54f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b453bd6d0d46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e14d2748fa4b8f" /><Relationship Type="http://schemas.openxmlformats.org/officeDocument/2006/relationships/notesMaster" Target="/ppt/notesMasters/notesMaster1.xml" Id="R24d6154bf5dc4b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892ded8ddf4071" /><Relationship Type="http://schemas.openxmlformats.org/officeDocument/2006/relationships/notesMaster" Target="/ppt/notesMasters/notesMaster1.xml" Id="R0ed6355df91844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1fc35278b64fe3" /><Relationship Type="http://schemas.openxmlformats.org/officeDocument/2006/relationships/notesMaster" Target="/ppt/notesMasters/notesMaster1.xml" Id="R906224733dc742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e19b6689084e4d" /><Relationship Type="http://schemas.openxmlformats.org/officeDocument/2006/relationships/notesMaster" Target="/ppt/notesMasters/notesMaster1.xml" Id="R6a4c5487241a4f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5546cb28e24cf7" /><Relationship Type="http://schemas.openxmlformats.org/officeDocument/2006/relationships/notesMaster" Target="/ppt/notesMasters/notesMaster1.xml" Id="R1b97eb061aa347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presenter is the sole project contributor. The user describes the intended co-op outcome as a demo proof of concept with as many UI fixtures as possible, even where functionality is incomplete. Sources: README.md; docs/product/PROJECT_VISION.md, sections 1, 2 and 7. Core implementation exists in frontend/src/components/session-review/. This deck reports code and documented direction, not a fresh end-to-end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docs/product/PROJECT_VISION.md, sections 1–7; docs/ai/AI_ML_VISION.md, sections 1–4. These are intended benefits, not measured outcomes. AI assists clinicians and does not replace clinical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docs/ai/HEALTHSCRIBE.md, Purpose and What the local application does today; frontend/src/components/session-review/recording-controls.tsx; audio-upload-button.tsx; transcript-viewer.tsx (segment selection sets player.currentTime); speaker-label-editor.tsx; clinical-note.tsx (save and finalize API calls). Broader interface sources: frontend/src/components/client-list.tsx; therapist-calendar.tsx; client-insights.tsx; client-portal.tsx; settings-layout.tsx. UI presence does not establish complete backend functionality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the goal: a demo proof-of-concept version with as many UI fixtures in place as possible, not necessarily functional. No original milestone schedule or signed acceptance criteria were provided, so this deck does not claim every committed goal is complete. Code references: frontend/src/components/session-review/session-workspace.tsx; scheduled-session-layout.tsx; completed-session-layout.tsx; frontend/src/app/clients/[clientId]/page.tsx. docs/deployment/HOSTED_DEPLOYMENT_ARCHITECTURE.md identifies a stable synthetic-data vertical slice as the readiness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delivery plan aligned with the user’s stated proof-of-concept scope, not an approved deadline commitment. Sources: docs/deployment/HOSTED_DEPLOYMENT_ARCHITECTURE.md, Product-readiness gate, especially core therapist session loop, Insights information architecture, reproducible startup and smoke checks; docs/product/PROJECT_VISION.md, strategic priorities. The documented readiness items are validation priorities, not a claim that every listed area is currently broken. Demo uses synthetic data. Real clinical deployment is outside this presentation’s completion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fa4dabf1534d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6f5be8ee5744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d716bd58204e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52c4f6c28d49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1f981c17494e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ab3415e64047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36B2BA-842F-4755-8149-E30DA3FE4F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D7E3D4-5157-4284-A5E6-4568E99203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0BECF5-1EEE-44BB-A47F-70163267A2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FAEF79-0EC7-4774-9182-84B1F64330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F2D923-8831-4C9F-8B93-4CE2E145D3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3EA4D2-471D-4096-82AD-CD37756579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E44EDE-1E43-427E-B1F8-0D58D7C293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372B85-2B2A-4607-9D0F-27FBFEB48B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10D56-8048-4382-B590-CB8B08B463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8DB0EA-31A8-4D0C-831D-022D34CB53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b7d4e66f284d13" /><Relationship Type="http://schemas.openxmlformats.org/officeDocument/2006/relationships/slideLayout" Target="/ppt/slideLayouts/slideLayout1.xml" Id="R6e9a539fc1fc469b" /><Relationship Type="http://schemas.openxmlformats.org/officeDocument/2006/relationships/slideLayout" Target="/ppt/slideLayouts/slideLayout2.xml" Id="Rc00706737c54413e" /><Relationship Type="http://schemas.openxmlformats.org/officeDocument/2006/relationships/slideLayout" Target="/ppt/slideLayouts/slideLayout3.xml" Id="Rb74b4725ff1d41a9" /><Relationship Type="http://schemas.openxmlformats.org/officeDocument/2006/relationships/slideLayout" Target="/ppt/slideLayouts/slideLayout4.xml" Id="R2422cd92c2c94784" /><Relationship Type="http://schemas.openxmlformats.org/officeDocument/2006/relationships/slideLayout" Target="/ppt/slideLayouts/slideLayout5.xml" Id="R5058fc9bcaab45b4" /><Relationship Type="http://schemas.openxmlformats.org/officeDocument/2006/relationships/slideLayout" Target="/ppt/slideLayouts/slideLayout6.xml" Id="R870f0fa0638747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9a539fc1fc469b"/>
    <p:sldLayoutId xmlns:r="http://schemas.openxmlformats.org/officeDocument/2006/relationships" id="2147483650" r:id="Rc00706737c54413e"/>
    <p:sldLayoutId xmlns:r="http://schemas.openxmlformats.org/officeDocument/2006/relationships" id="2147483651" r:id="Rb74b4725ff1d41a9"/>
    <p:sldLayoutId xmlns:r="http://schemas.openxmlformats.org/officeDocument/2006/relationships" id="2147483652" r:id="R2422cd92c2c94784"/>
    <p:sldLayoutId xmlns:r="http://schemas.openxmlformats.org/officeDocument/2006/relationships" id="2147483653" r:id="R5058fc9bcaab45b4"/>
    <p:sldLayoutId xmlns:r="http://schemas.openxmlformats.org/officeDocument/2006/relationships" id="2147483654" r:id="R870f0fa0638747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a5a2e516ce4a61" /><Relationship Type="http://schemas.openxmlformats.org/officeDocument/2006/relationships/notesSlide" Target="/ppt/notesSlides/notesSlide1.xml" Id="Rf8de3ca9923045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7be6445da44013" /><Relationship Type="http://schemas.openxmlformats.org/officeDocument/2006/relationships/notesSlide" Target="/ppt/notesSlides/notesSlide2.xml" Id="R8af05e4dec804f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a4df1f72254fec" /><Relationship Type="http://schemas.openxmlformats.org/officeDocument/2006/relationships/notesSlide" Target="/ppt/notesSlides/notesSlide3.xml" Id="Re8da30a107794e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662f48cd374f65" /><Relationship Type="http://schemas.openxmlformats.org/officeDocument/2006/relationships/notesSlide" Target="/ppt/notesSlides/notesSlide4.xml" Id="R187bd623b7b643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0551f19d2e4f50" /><Relationship Type="http://schemas.openxmlformats.org/officeDocument/2006/relationships/notesSlide" Target="/ppt/notesSlides/notesSlide5.xml" Id="R7796e9a2544042f6"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2ED6B1-E9F5-4990-9FA4-A9672C9948B3}"/>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Therapist Dashboard</a:t>
            </a:r>
          </a:p>
        </p:txBody>
      </p:sp>
      <p:sp>
        <p:nvSpPr>
          <p:cNvPr id="2" name="">
            <a:extLst xmlns:a="http://schemas.openxmlformats.org/drawingml/2006/main">
              <a:ext uri="{FF2B5EF4-FFF2-40B4-BE49-F238E27FC236}">
                <a16:creationId xmlns:a16="http://schemas.microsoft.com/office/drawing/2014/main" id="{8E3EE74A-192D-4E83-996E-8E3B92AD73EF}"/>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Solo co-op project / Proof-of-concept demo</a:t>
            </a:r>
          </a:p>
        </p:txBody>
      </p:sp>
      <p:sp>
        <p:nvSpPr>
          <p:cNvPr id="3" name="">
            <a:extLst xmlns:a="http://schemas.openxmlformats.org/drawingml/2006/main">
              <a:ext uri="{FF2B5EF4-FFF2-40B4-BE49-F238E27FC236}">
                <a16:creationId xmlns:a16="http://schemas.microsoft.com/office/drawing/2014/main" id="{A5EB9CAC-C87F-45E9-8E3F-FCAF0E704925}"/>
              </a:ext>
            </a:extLst>
          </p:cNvPr>
          <p:cNvSpPr>
            <a:spLocks xmlns:a="http://schemas.openxmlformats.org/drawingml/2006/main" noGrp="1"/>
          </p:cNvSpPr>
          <p:nvPr/>
        </p:nvSpPr>
        <p:spPr>
          <a:xfrm xmlns:a="http://schemas.openxmlformats.org/drawingml/2006/main">
            <a:off x="7620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Purpose</a:t>
            </a:r>
          </a:p>
        </p:txBody>
      </p:sp>
      <p:sp>
        <p:nvSpPr>
          <p:cNvPr id="4" name="">
            <a:extLst xmlns:a="http://schemas.openxmlformats.org/drawingml/2006/main">
              <a:ext uri="{FF2B5EF4-FFF2-40B4-BE49-F238E27FC236}">
                <a16:creationId xmlns:a16="http://schemas.microsoft.com/office/drawing/2014/main" id="{C23B6DD0-48A0-428E-BB40-076A492D8189}"/>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A workspace to help therapists organize session information and reduce administrative effort.</a:t>
            </a:r>
          </a:p>
        </p:txBody>
      </p:sp>
      <p:sp>
        <p:nvSpPr>
          <p:cNvPr id="5" name="">
            <a:extLst xmlns:a="http://schemas.openxmlformats.org/drawingml/2006/main">
              <a:ext uri="{FF2B5EF4-FFF2-40B4-BE49-F238E27FC236}">
                <a16:creationId xmlns:a16="http://schemas.microsoft.com/office/drawing/2014/main" id="{C02BACBA-9713-49B3-A5CA-5256A4269BEC}"/>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Agenda</a:t>
            </a:r>
          </a:p>
        </p:txBody>
      </p:sp>
      <p:sp>
        <p:nvSpPr>
          <p:cNvPr id="6" name="">
            <a:extLst xmlns:a="http://schemas.openxmlformats.org/drawingml/2006/main">
              <a:ext uri="{FF2B5EF4-FFF2-40B4-BE49-F238E27FC236}">
                <a16:creationId xmlns:a16="http://schemas.microsoft.com/office/drawing/2014/main" id="{C5D9C18B-2326-421D-A29F-1DD905C187C3}"/>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Project goals, accomplishments so far, current hurdles, and the end-of-co-op plan.</a:t>
            </a:r>
          </a:p>
        </p:txBody>
      </p:sp>
      <p:sp>
        <p:nvSpPr>
          <p:cNvPr id="7" name="">
            <a:extLst xmlns:a="http://schemas.openxmlformats.org/drawingml/2006/main">
              <a:ext uri="{FF2B5EF4-FFF2-40B4-BE49-F238E27FC236}">
                <a16:creationId xmlns:a16="http://schemas.microsoft.com/office/drawing/2014/main" id="{6A499821-EEE1-4C77-AC3C-1A1D2E1B73A2}"/>
              </a:ext>
            </a:extLst>
          </p:cNvPr>
          <p:cNvSpPr>
            <a:spLocks xmlns:a="http://schemas.openxmlformats.org/drawingml/2006/main" noGrp="1"/>
          </p:cNvSpPr>
          <p:nvPr/>
        </p:nvSpPr>
        <p:spPr>
          <a:xfrm xmlns:a="http://schemas.openxmlformats.org/drawingml/2006/main">
            <a:off x="762000" y="45624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Demo scope</a:t>
            </a:r>
          </a:p>
        </p:txBody>
      </p:sp>
      <p:sp>
        <p:nvSpPr>
          <p:cNvPr id="8" name="">
            <a:extLst xmlns:a="http://schemas.openxmlformats.org/drawingml/2006/main">
              <a:ext uri="{FF2B5EF4-FFF2-40B4-BE49-F238E27FC236}">
                <a16:creationId xmlns:a16="http://schemas.microsoft.com/office/drawing/2014/main" id="{7C4B61E1-4CF0-45FC-AF42-22D180B1FD83}"/>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A working core session flow, with UI fixtures showing the wider product experience.</a:t>
            </a:r>
          </a:p>
        </p:txBody>
      </p:sp>
      <p:sp>
        <p:nvSpPr>
          <p:cNvPr id="9" name="">
            <a:extLst xmlns:a="http://schemas.openxmlformats.org/drawingml/2006/main">
              <a:ext uri="{FF2B5EF4-FFF2-40B4-BE49-F238E27FC236}">
                <a16:creationId xmlns:a16="http://schemas.microsoft.com/office/drawing/2014/main" id="{3238FD31-F24F-4437-BCFC-DB1C0B87A1F3}"/>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01</a:t>
            </a:r>
          </a:p>
        </p:txBody>
      </p:sp>
    </p:spTree>
    <p:extLst>
      <p:ext uri="{BB962C8B-B14F-4D97-AF65-F5344CB8AC3E}">
        <p14:creationId xmlns:p14="http://schemas.microsoft.com/office/powerpoint/2010/main" val="89387939"/>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1E8EE8-28E7-43F7-AEA1-CA641D035785}"/>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Project purpose and goals</a:t>
            </a:r>
          </a:p>
        </p:txBody>
      </p:sp>
      <p:sp>
        <p:nvSpPr>
          <p:cNvPr id="2" name="">
            <a:extLst xmlns:a="http://schemas.openxmlformats.org/drawingml/2006/main">
              <a:ext uri="{FF2B5EF4-FFF2-40B4-BE49-F238E27FC236}">
                <a16:creationId xmlns:a16="http://schemas.microsoft.com/office/drawing/2014/main" id="{4A9DDF68-04CF-4756-BC3B-52A54C74A74A}"/>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Primary audience: therapists. Longer-term audience: clients and clinical teams.</a:t>
            </a:r>
          </a:p>
        </p:txBody>
      </p:sp>
      <p:sp>
        <p:nvSpPr>
          <p:cNvPr id="3" name="">
            <a:extLst xmlns:a="http://schemas.openxmlformats.org/drawingml/2006/main">
              <a:ext uri="{FF2B5EF4-FFF2-40B4-BE49-F238E27FC236}">
                <a16:creationId xmlns:a16="http://schemas.microsoft.com/office/drawing/2014/main" id="{0B55093D-5731-4B53-A7BC-60CF95DEF902}"/>
              </a:ext>
            </a:extLst>
          </p:cNvPr>
          <p:cNvSpPr>
            <a:spLocks xmlns:a="http://schemas.openxmlformats.org/drawingml/2006/main" noGrp="1"/>
          </p:cNvSpPr>
          <p:nvPr/>
        </p:nvSpPr>
        <p:spPr>
          <a:xfrm xmlns:a="http://schemas.openxmlformats.org/drawingml/2006/main">
            <a:off x="7620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Session review</a:t>
            </a:r>
          </a:p>
        </p:txBody>
      </p:sp>
      <p:sp>
        <p:nvSpPr>
          <p:cNvPr id="4" name="">
            <a:extLst xmlns:a="http://schemas.openxmlformats.org/drawingml/2006/main">
              <a:ext uri="{FF2B5EF4-FFF2-40B4-BE49-F238E27FC236}">
                <a16:creationId xmlns:a16="http://schemas.microsoft.com/office/drawing/2014/main" id="{74B1AD8D-962C-4FA8-9239-40824FC0678E}"/>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Bring recordings, timestamped transcripts, and draft clinical notes into one workflow.</a:t>
            </a:r>
          </a:p>
        </p:txBody>
      </p:sp>
      <p:sp>
        <p:nvSpPr>
          <p:cNvPr id="5" name="">
            <a:extLst xmlns:a="http://schemas.openxmlformats.org/drawingml/2006/main">
              <a:ext uri="{FF2B5EF4-FFF2-40B4-BE49-F238E27FC236}">
                <a16:creationId xmlns:a16="http://schemas.microsoft.com/office/drawing/2014/main" id="{02E23431-1449-4D2B-9CBD-C6AE464C62F6}"/>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Continuity of care</a:t>
            </a:r>
          </a:p>
        </p:txBody>
      </p:sp>
      <p:sp>
        <p:nvSpPr>
          <p:cNvPr id="6" name="">
            <a:extLst xmlns:a="http://schemas.openxmlformats.org/drawingml/2006/main">
              <a:ext uri="{FF2B5EF4-FFF2-40B4-BE49-F238E27FC236}">
                <a16:creationId xmlns:a16="http://schemas.microsoft.com/office/drawing/2014/main" id="{05824A49-996A-41FF-BA11-A2D7B9E1AF4B}"/>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Make past-session context easier to revisit, with links to supporting records.</a:t>
            </a:r>
          </a:p>
        </p:txBody>
      </p:sp>
      <p:sp>
        <p:nvSpPr>
          <p:cNvPr id="7" name="">
            <a:extLst xmlns:a="http://schemas.openxmlformats.org/drawingml/2006/main">
              <a:ext uri="{FF2B5EF4-FFF2-40B4-BE49-F238E27FC236}">
                <a16:creationId xmlns:a16="http://schemas.microsoft.com/office/drawing/2014/main" id="{A0B16D41-9018-49CB-97C2-02433DEE654F}"/>
              </a:ext>
            </a:extLst>
          </p:cNvPr>
          <p:cNvSpPr>
            <a:spLocks xmlns:a="http://schemas.openxmlformats.org/drawingml/2006/main" noGrp="1"/>
          </p:cNvSpPr>
          <p:nvPr/>
        </p:nvSpPr>
        <p:spPr>
          <a:xfrm xmlns:a="http://schemas.openxmlformats.org/drawingml/2006/main">
            <a:off x="762000" y="45624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Therapist control</a:t>
            </a:r>
          </a:p>
        </p:txBody>
      </p:sp>
      <p:sp>
        <p:nvSpPr>
          <p:cNvPr id="8" name="">
            <a:extLst xmlns:a="http://schemas.openxmlformats.org/drawingml/2006/main">
              <a:ext uri="{FF2B5EF4-FFF2-40B4-BE49-F238E27FC236}">
                <a16:creationId xmlns:a16="http://schemas.microsoft.com/office/drawing/2014/main" id="{6397667E-42BA-4533-9216-4084BD27BA79}"/>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Keep generated material reviewable and correctable before clinical use.</a:t>
            </a:r>
          </a:p>
        </p:txBody>
      </p:sp>
      <p:sp>
        <p:nvSpPr>
          <p:cNvPr id="9" name="">
            <a:extLst xmlns:a="http://schemas.openxmlformats.org/drawingml/2006/main">
              <a:ext uri="{FF2B5EF4-FFF2-40B4-BE49-F238E27FC236}">
                <a16:creationId xmlns:a16="http://schemas.microsoft.com/office/drawing/2014/main" id="{4A275943-C850-4250-A9A8-7B02BC5C89F6}"/>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02</a:t>
            </a:r>
          </a:p>
        </p:txBody>
      </p:sp>
    </p:spTree>
    <p:extLst>
      <p:ext uri="{BB962C8B-B14F-4D97-AF65-F5344CB8AC3E}">
        <p14:creationId xmlns:p14="http://schemas.microsoft.com/office/powerpoint/2010/main" val="19561938"/>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117D28-574A-41BF-A856-7549A0B24CF0}"/>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Accomplishments so far</a:t>
            </a:r>
          </a:p>
        </p:txBody>
      </p:sp>
      <p:sp>
        <p:nvSpPr>
          <p:cNvPr id="2" name="">
            <a:extLst xmlns:a="http://schemas.openxmlformats.org/drawingml/2006/main">
              <a:ext uri="{FF2B5EF4-FFF2-40B4-BE49-F238E27FC236}">
                <a16:creationId xmlns:a16="http://schemas.microsoft.com/office/drawing/2014/main" id="{BCBE42BE-8D23-474F-92CF-84B609CBB287}"/>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The codebase contains the core session workflow and a broader interface foundation.</a:t>
            </a:r>
          </a:p>
        </p:txBody>
      </p:sp>
      <p:sp>
        <p:nvSpPr>
          <p:cNvPr id="3" name="">
            <a:extLst xmlns:a="http://schemas.openxmlformats.org/drawingml/2006/main">
              <a:ext uri="{FF2B5EF4-FFF2-40B4-BE49-F238E27FC236}">
                <a16:creationId xmlns:a16="http://schemas.microsoft.com/office/drawing/2014/main" id="{737862E2-F9AE-42FE-BAC0-950B626B59BF}"/>
              </a:ext>
            </a:extLst>
          </p:cNvPr>
          <p:cNvSpPr>
            <a:spLocks xmlns:a="http://schemas.openxmlformats.org/drawingml/2006/main" noGrp="1"/>
          </p:cNvSpPr>
          <p:nvPr/>
        </p:nvSpPr>
        <p:spPr>
          <a:xfrm xmlns:a="http://schemas.openxmlformats.org/drawingml/2006/main">
            <a:off x="7620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Capture and process</a:t>
            </a:r>
          </a:p>
        </p:txBody>
      </p:sp>
      <p:sp>
        <p:nvSpPr>
          <p:cNvPr id="4" name="">
            <a:extLst xmlns:a="http://schemas.openxmlformats.org/drawingml/2006/main">
              <a:ext uri="{FF2B5EF4-FFF2-40B4-BE49-F238E27FC236}">
                <a16:creationId xmlns:a16="http://schemas.microsoft.com/office/drawing/2014/main" id="{EA9BFC23-B068-4380-B703-9044EF6F926C}"/>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Browser recording and audio uploads connect to HealthScribe for transcripts and draft notes.</a:t>
            </a:r>
          </a:p>
        </p:txBody>
      </p:sp>
      <p:sp>
        <p:nvSpPr>
          <p:cNvPr id="5" name="">
            <a:extLst xmlns:a="http://schemas.openxmlformats.org/drawingml/2006/main">
              <a:ext uri="{FF2B5EF4-FFF2-40B4-BE49-F238E27FC236}">
                <a16:creationId xmlns:a16="http://schemas.microsoft.com/office/drawing/2014/main" id="{2C648513-AE53-4967-AB33-57C6B59A4B11}"/>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Review and correct</a:t>
            </a:r>
          </a:p>
        </p:txBody>
      </p:sp>
      <p:sp>
        <p:nvSpPr>
          <p:cNvPr id="6" name="">
            <a:extLst xmlns:a="http://schemas.openxmlformats.org/drawingml/2006/main">
              <a:ext uri="{FF2B5EF4-FFF2-40B4-BE49-F238E27FC236}">
                <a16:creationId xmlns:a16="http://schemas.microsoft.com/office/drawing/2014/main" id="{6186BA9D-12CB-4C67-98A9-0A2A9DCC52C7}"/>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Transcript-linked playback, speaker-label corrections, and note editing and finalization.</a:t>
            </a:r>
          </a:p>
        </p:txBody>
      </p:sp>
      <p:sp>
        <p:nvSpPr>
          <p:cNvPr id="7" name="">
            <a:extLst xmlns:a="http://schemas.openxmlformats.org/drawingml/2006/main">
              <a:ext uri="{FF2B5EF4-FFF2-40B4-BE49-F238E27FC236}">
                <a16:creationId xmlns:a16="http://schemas.microsoft.com/office/drawing/2014/main" id="{7BC6DE1F-10A1-47B7-9879-21FB70CCF24F}"/>
              </a:ext>
            </a:extLst>
          </p:cNvPr>
          <p:cNvSpPr>
            <a:spLocks xmlns:a="http://schemas.openxmlformats.org/drawingml/2006/main" noGrp="1"/>
          </p:cNvSpPr>
          <p:nvPr/>
        </p:nvSpPr>
        <p:spPr>
          <a:xfrm xmlns:a="http://schemas.openxmlformats.org/drawingml/2006/main">
            <a:off x="762000" y="45624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Broader UI coverage</a:t>
            </a:r>
          </a:p>
        </p:txBody>
      </p:sp>
      <p:sp>
        <p:nvSpPr>
          <p:cNvPr id="8" name="">
            <a:extLst xmlns:a="http://schemas.openxmlformats.org/drawingml/2006/main">
              <a:ext uri="{FF2B5EF4-FFF2-40B4-BE49-F238E27FC236}">
                <a16:creationId xmlns:a16="http://schemas.microsoft.com/office/drawing/2014/main" id="{A2A9173C-108F-4AE4-A956-E2B7B90F4183}"/>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Client records, scheduling, Insights, a client portal, and settings screens.</a:t>
            </a:r>
          </a:p>
        </p:txBody>
      </p:sp>
      <p:sp>
        <p:nvSpPr>
          <p:cNvPr id="9" name="">
            <a:extLst xmlns:a="http://schemas.openxmlformats.org/drawingml/2006/main">
              <a:ext uri="{FF2B5EF4-FFF2-40B4-BE49-F238E27FC236}">
                <a16:creationId xmlns:a16="http://schemas.microsoft.com/office/drawing/2014/main" id="{53CA6F5A-1B83-49A5-A0FF-9A87D95B899B}"/>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03</a:t>
            </a:r>
          </a:p>
        </p:txBody>
      </p:sp>
    </p:spTree>
    <p:extLst>
      <p:ext uri="{BB962C8B-B14F-4D97-AF65-F5344CB8AC3E}">
        <p14:creationId xmlns:p14="http://schemas.microsoft.com/office/powerpoint/2010/main" val="197865759"/>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FBA866-E76E-46D5-B611-C3BBD4FBA025}"/>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Progress against the demo goal</a:t>
            </a:r>
          </a:p>
        </p:txBody>
      </p:sp>
      <p:sp>
        <p:nvSpPr>
          <p:cNvPr id="2" name="">
            <a:extLst xmlns:a="http://schemas.openxmlformats.org/drawingml/2006/main">
              <a:ext uri="{FF2B5EF4-FFF2-40B4-BE49-F238E27FC236}">
                <a16:creationId xmlns:a16="http://schemas.microsoft.com/office/drawing/2014/main" id="{59B1EBA6-D56A-4BF1-88F9-C74380608A6C}"/>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The repository supports a substantial proof of concept. Full demo coverage remains the target.</a:t>
            </a:r>
          </a:p>
        </p:txBody>
      </p:sp>
      <p:sp>
        <p:nvSpPr>
          <p:cNvPr id="3" name="">
            <a:extLst xmlns:a="http://schemas.openxmlformats.org/drawingml/2006/main">
              <a:ext uri="{FF2B5EF4-FFF2-40B4-BE49-F238E27FC236}">
                <a16:creationId xmlns:a16="http://schemas.microsoft.com/office/drawing/2014/main" id="{9C428B35-C8F6-407D-BF1E-BF804F757AC0}"/>
              </a:ext>
            </a:extLst>
          </p:cNvPr>
          <p:cNvSpPr>
            <a:spLocks xmlns:a="http://schemas.openxmlformats.org/drawingml/2006/main" noGrp="1"/>
          </p:cNvSpPr>
          <p:nvPr/>
        </p:nvSpPr>
        <p:spPr>
          <a:xfrm xmlns:a="http://schemas.openxmlformats.org/drawingml/2006/main">
            <a:off x="7620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Goal</a:t>
            </a:r>
          </a:p>
        </p:txBody>
      </p:sp>
      <p:sp>
        <p:nvSpPr>
          <p:cNvPr id="4" name="">
            <a:extLst xmlns:a="http://schemas.openxmlformats.org/drawingml/2006/main">
              <a:ext uri="{FF2B5EF4-FFF2-40B4-BE49-F238E27FC236}">
                <a16:creationId xmlns:a16="http://schemas.microsoft.com/office/drawing/2014/main" id="{69C1E460-866B-4457-8D76-4A9B9F88FB10}"/>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Show the intended therapist experience through a core workflow and broad UI fixtures.</a:t>
            </a:r>
          </a:p>
        </p:txBody>
      </p:sp>
      <p:sp>
        <p:nvSpPr>
          <p:cNvPr id="5" name="">
            <a:extLst xmlns:a="http://schemas.openxmlformats.org/drawingml/2006/main">
              <a:ext uri="{FF2B5EF4-FFF2-40B4-BE49-F238E27FC236}">
                <a16:creationId xmlns:a16="http://schemas.microsoft.com/office/drawing/2014/main" id="{A7C3FD38-654D-4E33-A6D6-9B09E6D273A3}"/>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Progress</a:t>
            </a:r>
          </a:p>
        </p:txBody>
      </p:sp>
      <p:sp>
        <p:nvSpPr>
          <p:cNvPr id="6" name="">
            <a:extLst xmlns:a="http://schemas.openxmlformats.org/drawingml/2006/main">
              <a:ext uri="{FF2B5EF4-FFF2-40B4-BE49-F238E27FC236}">
                <a16:creationId xmlns:a16="http://schemas.microsoft.com/office/drawing/2014/main" id="{B5C989A3-69E1-40DF-B4B4-54EBF4F9D7B1}"/>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Core review controls and multiple workspace screens are present in the codebase.</a:t>
            </a:r>
          </a:p>
        </p:txBody>
      </p:sp>
      <p:sp>
        <p:nvSpPr>
          <p:cNvPr id="7" name="">
            <a:extLst xmlns:a="http://schemas.openxmlformats.org/drawingml/2006/main">
              <a:ext uri="{FF2B5EF4-FFF2-40B4-BE49-F238E27FC236}">
                <a16:creationId xmlns:a16="http://schemas.microsoft.com/office/drawing/2014/main" id="{3773A421-3B39-442B-9CAD-28414D75B629}"/>
              </a:ext>
            </a:extLst>
          </p:cNvPr>
          <p:cNvSpPr>
            <a:spLocks xmlns:a="http://schemas.openxmlformats.org/drawingml/2006/main" noGrp="1"/>
          </p:cNvSpPr>
          <p:nvPr/>
        </p:nvSpPr>
        <p:spPr>
          <a:xfrm xmlns:a="http://schemas.openxmlformats.org/drawingml/2006/main">
            <a:off x="762000" y="45624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Remaining gap</a:t>
            </a:r>
          </a:p>
        </p:txBody>
      </p:sp>
      <p:sp>
        <p:nvSpPr>
          <p:cNvPr id="8" name="">
            <a:extLst xmlns:a="http://schemas.openxmlformats.org/drawingml/2006/main">
              <a:ext uri="{FF2B5EF4-FFF2-40B4-BE49-F238E27FC236}">
                <a16:creationId xmlns:a16="http://schemas.microsoft.com/office/drawing/2014/main" id="{9DC41C55-4B3F-42C7-A365-DFC07642EEED}"/>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Check the full demo path and clearly identify which interactions use fixtures.</a:t>
            </a:r>
          </a:p>
        </p:txBody>
      </p:sp>
      <p:sp>
        <p:nvSpPr>
          <p:cNvPr id="9" name="">
            <a:extLst xmlns:a="http://schemas.openxmlformats.org/drawingml/2006/main">
              <a:ext uri="{FF2B5EF4-FFF2-40B4-BE49-F238E27FC236}">
                <a16:creationId xmlns:a16="http://schemas.microsoft.com/office/drawing/2014/main" id="{B46E3344-C2DD-48BA-AFA1-16D27D88AF4D}"/>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04</a:t>
            </a:r>
          </a:p>
        </p:txBody>
      </p:sp>
    </p:spTree>
    <p:extLst>
      <p:ext uri="{BB962C8B-B14F-4D97-AF65-F5344CB8AC3E}">
        <p14:creationId xmlns:p14="http://schemas.microsoft.com/office/powerpoint/2010/main" val="1339521929"/>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A89673-369D-43A7-8DEB-52C7B911EF42}"/>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Current hurdles and future plans</a:t>
            </a:r>
          </a:p>
        </p:txBody>
      </p:sp>
      <p:sp>
        <p:nvSpPr>
          <p:cNvPr id="2" name="">
            <a:extLst xmlns:a="http://schemas.openxmlformats.org/drawingml/2006/main">
              <a:ext uri="{FF2B5EF4-FFF2-40B4-BE49-F238E27FC236}">
                <a16:creationId xmlns:a16="http://schemas.microsoft.com/office/drawing/2014/main" id="{5DDD70EE-A153-4F3E-98E3-9154FE220617}"/>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Proposed end-of-co-op deliverable: a coherent demo using synthetic data.</a:t>
            </a:r>
          </a:p>
        </p:txBody>
      </p:sp>
      <p:sp>
        <p:nvSpPr>
          <p:cNvPr id="3" name="">
            <a:extLst xmlns:a="http://schemas.openxmlformats.org/drawingml/2006/main">
              <a:ext uri="{FF2B5EF4-FFF2-40B4-BE49-F238E27FC236}">
                <a16:creationId xmlns:a16="http://schemas.microsoft.com/office/drawing/2014/main" id="{DDA8F6AD-F44C-4DA4-8820-D4D027FD62DB}"/>
              </a:ext>
            </a:extLst>
          </p:cNvPr>
          <p:cNvSpPr>
            <a:spLocks xmlns:a="http://schemas.openxmlformats.org/drawingml/2006/main" noGrp="1"/>
          </p:cNvSpPr>
          <p:nvPr/>
        </p:nvSpPr>
        <p:spPr>
          <a:xfrm xmlns:a="http://schemas.openxmlformats.org/drawingml/2006/main">
            <a:off x="7620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Demo reliability</a:t>
            </a:r>
          </a:p>
        </p:txBody>
      </p:sp>
      <p:sp>
        <p:nvSpPr>
          <p:cNvPr id="4" name="">
            <a:extLst xmlns:a="http://schemas.openxmlformats.org/drawingml/2006/main">
              <a:ext uri="{FF2B5EF4-FFF2-40B4-BE49-F238E27FC236}">
                <a16:creationId xmlns:a16="http://schemas.microsoft.com/office/drawing/2014/main" id="{56760AA8-CA3C-4DF7-94F7-7E3E46722CCA}"/>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Verify the full session path and make processing, loading, and error states clear.</a:t>
            </a:r>
          </a:p>
        </p:txBody>
      </p:sp>
      <p:sp>
        <p:nvSpPr>
          <p:cNvPr id="5" name="">
            <a:extLst xmlns:a="http://schemas.openxmlformats.org/drawingml/2006/main">
              <a:ext uri="{FF2B5EF4-FFF2-40B4-BE49-F238E27FC236}">
                <a16:creationId xmlns:a16="http://schemas.microsoft.com/office/drawing/2014/main" id="{747F35CB-57BC-4B54-8DD9-D0DB0C82DBC0}"/>
              </a:ext>
            </a:extLst>
          </p:cNvPr>
          <p:cNvSpPr>
            <a:spLocks xmlns:a="http://schemas.openxmlformats.org/drawingml/2006/main" noGrp="1"/>
          </p:cNvSpPr>
          <p:nvPr/>
        </p:nvSpPr>
        <p:spPr>
          <a:xfrm xmlns:a="http://schemas.openxmlformats.org/drawingml/2006/main">
            <a:off x="762000" y="35337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UI completeness</a:t>
            </a:r>
          </a:p>
        </p:txBody>
      </p:sp>
      <p:sp>
        <p:nvSpPr>
          <p:cNvPr id="6" name="">
            <a:extLst xmlns:a="http://schemas.openxmlformats.org/drawingml/2006/main">
              <a:ext uri="{FF2B5EF4-FFF2-40B4-BE49-F238E27FC236}">
                <a16:creationId xmlns:a16="http://schemas.microsoft.com/office/drawing/2014/main" id="{E8CC6603-F215-43DB-9B0D-9EE4090E4D39}"/>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Fill priority screen gaps and keep fixture-based interactions consistent across the demo.</a:t>
            </a:r>
          </a:p>
        </p:txBody>
      </p:sp>
      <p:sp>
        <p:nvSpPr>
          <p:cNvPr id="7" name="">
            <a:extLst xmlns:a="http://schemas.openxmlformats.org/drawingml/2006/main">
              <a:ext uri="{FF2B5EF4-FFF2-40B4-BE49-F238E27FC236}">
                <a16:creationId xmlns:a16="http://schemas.microsoft.com/office/drawing/2014/main" id="{2C50063C-ED6F-44A0-BC26-73F3ECE45AD8}"/>
              </a:ext>
            </a:extLst>
          </p:cNvPr>
          <p:cNvSpPr>
            <a:spLocks xmlns:a="http://schemas.openxmlformats.org/drawingml/2006/main" noGrp="1"/>
          </p:cNvSpPr>
          <p:nvPr/>
        </p:nvSpPr>
        <p:spPr>
          <a:xfrm xmlns:a="http://schemas.openxmlformats.org/drawingml/2006/main">
            <a:off x="762000" y="45624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Final handoff</a:t>
            </a:r>
          </a:p>
        </p:txBody>
      </p:sp>
      <p:sp>
        <p:nvSpPr>
          <p:cNvPr id="8" name="">
            <a:extLst xmlns:a="http://schemas.openxmlformats.org/drawingml/2006/main">
              <a:ext uri="{FF2B5EF4-FFF2-40B4-BE49-F238E27FC236}">
                <a16:creationId xmlns:a16="http://schemas.microsoft.com/office/drawing/2014/main" id="{117582E8-0D46-45AA-945C-E8407CF8BD03}"/>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Prepare a repeatable walkthrough and document implemented features, fixtures, and known limits.</a:t>
            </a:r>
          </a:p>
        </p:txBody>
      </p:sp>
      <p:sp>
        <p:nvSpPr>
          <p:cNvPr id="9" name="">
            <a:extLst xmlns:a="http://schemas.openxmlformats.org/drawingml/2006/main">
              <a:ext uri="{FF2B5EF4-FFF2-40B4-BE49-F238E27FC236}">
                <a16:creationId xmlns:a16="http://schemas.microsoft.com/office/drawing/2014/main" id="{2CC4AF33-67E2-4F49-A7DE-9FD23BF24098}"/>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05</a:t>
            </a:r>
          </a:p>
        </p:txBody>
      </p:sp>
    </p:spTree>
    <p:extLst>
      <p:ext uri="{BB962C8B-B14F-4D97-AF65-F5344CB8AC3E}">
        <p14:creationId xmlns:p14="http://schemas.microsoft.com/office/powerpoint/2010/main" val="302467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2026-10-18T15:15:40.5640000Z</dcterms:created>
  <dcterms:modified xsi:type="dcterms:W3CDTF">2026-10-18T15:15:40.5640000Z</dcterms:modified>
</coreProperties>
</file>